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310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Set expectation: four-junction hourly traffic study covering 20 months, analyzing volume patterns and building a short-term forecast. Four headline findings and concrete recommendations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overview. Dataset is 48,120 clean hourly rows across 4 junctions over 20 months. The four takeaways — Junction 1 dominates volume, traffic is predictable, it's growing, and a model is ready — frame the rest of the deck. Each takeaway gets its own slide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volume is lopsided. Junction 1 averages 45 vehicles per hour against 7.3 at Junction 4. If you only have budget for one intervention, start here. Also flag Junction 3 — low average but rare spikes up to 180 vehicles that warrant an incident-response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is highly regular. Same daily shape every weekday, same weekend dip, same seasonal bump. That regularity is what makes short-term forecasting feasible — we'll see the model on slide 6. Practical use: you can plan signal timing against these curves with high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growth isn't uniform — it's concentrated at Junction 1. That has implications for any forecasting: the model needs regular retraining, and capacity planning at Junction 1 should assume demand keeps climbing.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models fitted on an 80/20 split. Random Forest crushes the linear baseline. R-squared of 0.965 and MAE of 2.4 vehicles is tight enough for real operational use — signal timing, staffing rotations, incident response. Caveat: feature importance shows Junction and Year dominate, so we need to retrain periodically as the Junction 1 trend evolves.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recommendations: start with Junction 1, productionise the model, recalibrate on a quarterly cadence, and extend the dataset with weather/events/holidays. Happy to go deeper on any of these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2651760"/>
            <a:ext cx="5486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FB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Analysis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Four-junction hourly flow study  •  November 2015 – June 2017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stakeholders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r>
              <a:rPr lang="en-US" sz="1300" b="1" dirty="0">
                <a:solidFill>
                  <a:srgbClr val="8FB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22,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3728" y="1554480"/>
            <a:ext cx="3566160" cy="1188720"/>
          </a:xfrm>
          <a:prstGeom prst="rect">
            <a:avLst/>
          </a:prstGeom>
          <a:solidFill>
            <a:srgbClr val="E8EEF5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3728" y="1691640"/>
            <a:ext cx="3566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48,120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63728" y="2327148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observations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768" y="1554480"/>
            <a:ext cx="3566160" cy="1188720"/>
          </a:xfrm>
          <a:prstGeom prst="rect">
            <a:avLst/>
          </a:prstGeom>
          <a:solidFill>
            <a:srgbClr val="E8EEF5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12768" y="1691640"/>
            <a:ext cx="3566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months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12768" y="2327148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2015 – Jun 2017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1808" y="1554480"/>
            <a:ext cx="3566160" cy="1188720"/>
          </a:xfrm>
          <a:prstGeom prst="rect">
            <a:avLst/>
          </a:prstGeom>
          <a:solidFill>
            <a:srgbClr val="E8EEF5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61808" y="1691640"/>
            <a:ext cx="3566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61808" y="2327148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 monitored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3728" y="310896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3728" y="3108960"/>
            <a:ext cx="64008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4896" y="3218688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1 dominates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45 vehicles/hr — roughly 3× Junctions 2 &amp; 3 and 6× Junction 4. Accounts for 56 % of total volume.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3008" y="310896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33008" y="3108960"/>
            <a:ext cx="64008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34176" y="3218688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daily rhythm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peaks late-morning and 6–8 p.m.; weekend volumes roughly 25 % below weekday baseline.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3728" y="48463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3728" y="4846320"/>
            <a:ext cx="64008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4896" y="4956048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are rising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totals at Junction 1 grew steadily across 2015–2017; calendar year is the 2nd strongest driver in the model.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33008" y="48463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33008" y="4846320"/>
            <a:ext cx="64008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34176" y="4956048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96.5 % model accuracy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predicts hourly volume with ±2.4-vehicle mean error — fit for signal-timing and staffing use.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Analysis  |  Executive Deck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1 carries most of the load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hourly volume comes from Junction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1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45.1 avg vehicles/hr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2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 avg vehicles/hr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3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 avg vehicles/hr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4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avg vehicles/hr</a:t>
            </a:r>
            <a:endParaRPr lang="en-US" sz="1300" dirty="0"/>
          </a:p>
        </p:txBody>
      </p:sp>
      <p:pic>
        <p:nvPicPr>
          <p:cNvPr id="12" name="Image 0" descr="/sessions/loving-confident-gauss/mnt/outputs/figs/fig1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7132320" cy="200115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3875675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— Hourly distribution (left) and vehicle counts by junction (right).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4332875"/>
            <a:ext cx="7132320" cy="1691640"/>
          </a:xfrm>
          <a:prstGeom prst="rect">
            <a:avLst/>
          </a:prstGeom>
          <a:solidFill>
            <a:srgbClr val="F5F8FC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4442603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4744355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congestion or capacity intervention should start at Junction 1 — it drives the majority of observed load, and Junction 3 shows rare but extreme spikes (up to 180 vehicles/hr) that deserve a closer look.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Analysis  |  Executive Deck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follows a predictable daily and weekly rhythm</a:t>
            </a:r>
            <a:endParaRPr lang="en-US" sz="3000" dirty="0"/>
          </a:p>
        </p:txBody>
      </p:sp>
      <p:pic>
        <p:nvPicPr>
          <p:cNvPr id="6" name="Image 0" descr="/sessions/loving-confident-gauss/mnt/outputs/figs/fig2_time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855" y="1554480"/>
            <a:ext cx="7315200" cy="4369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27855" y="594225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 — Average traffic by hour, day, month, and weekend vs. weekday.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413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pattern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climbs from a 4–5 a.m. trough to a late-morning plateau, dips mid-afternoon, then peaks again 6–8 p.m.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3413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drop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and Sunday averages sit ~25 % below the Monday–Friday baseline.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3413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note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1 shows an autumn surge (Sep–Oct); smaller junctions stay flat year-round.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Analysis  |  Executive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are growing, led by Junction 1</a:t>
            </a:r>
            <a:endParaRPr lang="en-US" sz="3000" dirty="0"/>
          </a:p>
        </p:txBody>
      </p:sp>
      <p:pic>
        <p:nvPicPr>
          <p:cNvPr id="6" name="Image 0" descr="/sessions/loving-confident-gauss/mnt/outputs/figs/fig3_daily_and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653" y="1554480"/>
            <a:ext cx="7135402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07653" y="6144768"/>
            <a:ext cx="7135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— Daily vehicle totals per junction (top) and feature correlations (bottom).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59325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upward trend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1's daily totals climb steadily from late 2015 into mid-2017, while Junctions 2–4 remain broadly flat.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474720"/>
            <a:ext cx="359325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by the model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Random Forest ranks calendar year as the second most important predictor (16 %) — a genuine growth signal, not seasonal noise.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Analysis  |  Executive Deck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forecasting model is ready for operational use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120640" cy="1356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(selected)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3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3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3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40080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0.965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±2.4 vehicles mean error per hour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709160"/>
            <a:ext cx="5120640" cy="1417320"/>
          </a:xfrm>
          <a:prstGeom prst="rect">
            <a:avLst/>
          </a:prstGeom>
          <a:solidFill>
            <a:srgbClr val="F5F8FC"/>
          </a:solidFill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prediction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</a:t>
            </a: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52 %   •   </a:t>
            </a: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16 %   •   </a:t>
            </a: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</a:t>
            </a: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14 %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532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Day-of-week and weekend flags add little once hour and month are known — a useful simplification for any downstream tool.</a:t>
            </a:r>
            <a:endParaRPr lang="en-US" sz="1100" dirty="0"/>
          </a:p>
        </p:txBody>
      </p:sp>
      <p:pic>
        <p:nvPicPr>
          <p:cNvPr id="13" name="Image 0" descr="/sessions/loving-confident-gauss/mnt/outputs/figs/fig4_rf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20240"/>
            <a:ext cx="5760720" cy="18957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386169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 — Feature importance (left) and actual vs. predicted vehicles (right).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Analysis  |  Executive Deck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FB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640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8028" y="1965960"/>
            <a:ext cx="53035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8FB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6628" y="2194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912468" y="21671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Junction 1 for intervention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12468" y="271576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drives most of observed load and shows the steepest year-over-year growth.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0148" y="1965960"/>
            <a:ext cx="53035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8FB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38748" y="2194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44588" y="21671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model into operational 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44588" y="271576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±2.4-vehicle hourly error is suitable for signal timing, staffing, and short-horizon planning.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8028" y="3977640"/>
            <a:ext cx="53035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8FB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6628" y="42062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912468" y="4178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Recalibrate quarterly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12468" y="47274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year is a top predictor, the model will drift as traffic grows; quarterly retraining keeps accuracy stable.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0148" y="3977640"/>
            <a:ext cx="53035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8FB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38748" y="42062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444588" y="4178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dataset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44588" y="47274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weather, holidays, and event calendars would likely reduce residual error and improve handling of unusual days.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 Traffic analysis.ipynb  •  April 22,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992</Words>
  <Application>Microsoft Office PowerPoint</Application>
  <PresentationFormat>Widescreen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Volume Analysis — Executive Deck</dc:title>
  <dc:subject>PptxGenJS Presentation</dc:subject>
  <dc:creator>Claude</dc:creator>
  <cp:lastModifiedBy>ibrahim alghamdi</cp:lastModifiedBy>
  <cp:revision>1</cp:revision>
  <dcterms:created xsi:type="dcterms:W3CDTF">2026-04-22T21:06:43Z</dcterms:created>
  <dcterms:modified xsi:type="dcterms:W3CDTF">2026-04-22T21:12:12Z</dcterms:modified>
</cp:coreProperties>
</file>